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015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4400" b="1">
                <a:solidFill>
                  <a:srgbClr val="6366F1"/>
                </a:solidFill>
              </a:defRPr>
            </a:pPr>
            <a:r>
              <a:t>BUGFLOW</a:t>
            </a:r>
          </a:p>
          <a:p>
            <a:pPr>
              <a:spcAft>
                <a:spcPts val="1600"/>
              </a:spcAft>
              <a:defRPr sz="2600" b="1">
                <a:solidFill>
                  <a:srgbClr val="F8FAFC"/>
                </a:solidFill>
              </a:defRPr>
            </a:pPr>
            <a:r>
              <a:t>Intelligent AI-Powered Defect Management &amp; Vision Engine</a:t>
            </a:r>
          </a:p>
          <a:p>
            <a:pPr>
              <a:spcAft>
                <a:spcPts val="2800"/>
              </a:spcAft>
              <a:defRPr sz="1400">
                <a:solidFill>
                  <a:srgbClr val="06B6D4"/>
                </a:solidFill>
              </a:defRPr>
            </a:pPr>
            <a:r>
              <a:t>Automated Screenshot OCR Extraction • Gemini 2.5 AI Triage • Role-Based Engineering Workspaces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Software Engineering Senior Capstone / Final 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BUGFLOW 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Problem Statement: Challenges of Legacy Defect Management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6366F1"/>
                </a:solidFill>
              </a:defRPr>
            </a:pPr>
            <a:r>
              <a:t>1. High Data Entry Overhead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 Legacy tools (Jira, Bugzilla) require manual typing of 10+ required fields.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 QA testers spend up to 40% of test cycles writing issue descriptions.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 Critical steps to reproduce are frequently omitted by mistake.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6366F1"/>
                </a:solidFill>
              </a:defRPr>
            </a:pPr>
            <a:r>
              <a:t>2. Unstructured Context &amp; Slow Triage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 Raw screenshots uploaded without text OCR parsing require manual inspection.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 Project leads spend hours matching bugs to developer skillsets.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 Duplicate bug reports cause backlog clutter and wasted engineering effort.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BUGFLOW 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Project Objectives &amp; Core Deliverables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6366F1"/>
                </a:solidFill>
              </a:defRPr>
            </a:pPr>
            <a:r>
              <a:t>⚡ Automated OCR Extraction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 Parse UI screenshots automatically via Gemini 2.5 Vision.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 Extract title, steps to reproduce, expected vs actual behavior.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 Eliminate manual description writing entirely.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645920"/>
            <a:ext cx="32918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6366F1"/>
                </a:solidFill>
              </a:defRPr>
            </a:pPr>
            <a:r>
              <a:t>🎯 Predictive AI Triage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 Auto-predict defect severity (Critical, High, Medium, Low).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 Suggest optimal developer assignment based on technical skills.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 Detect vector similarity to eliminate duplicate bugs.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1645920"/>
            <a:ext cx="32918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6366F1"/>
                </a:solidFill>
              </a:defRPr>
            </a:pPr>
            <a:r>
              <a:t>🛡️ Enterprise RBAC &amp; Design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 Tailored workspaces for Admin, Dev, Tester, and PM roles.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 User-controlled customizable theme engine.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 100% clean SaaS boot with real-time analytics metrics.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BUGFLOW 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Comparative Analysis: Legacy Systems vs. BugFlow AI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10725912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3840480"/>
                <a:gridCol w="3959352"/>
              </a:tblGrid>
              <a:tr h="76200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8FAFC"/>
                          </a:solidFill>
                        </a:defRPr>
                      </a:pPr>
                      <a:r>
                        <a:t>Evaluation Metric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8FAFC"/>
                          </a:solidFill>
                        </a:defRPr>
                      </a:pPr>
                      <a:r>
                        <a:t>Legacy Tools (Jira / Bugzilla)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8FAFC"/>
                          </a:solidFill>
                        </a:defRPr>
                      </a:pPr>
                      <a:r>
                        <a:t>Proposed BugFlow Platform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94A3B8"/>
                          </a:solidFill>
                        </a:defRPr>
                      </a:pPr>
                      <a:r>
                        <a:t>Bug Creation Speed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94A3B8"/>
                          </a:solidFill>
                        </a:defRPr>
                      </a:pPr>
                      <a:r>
                        <a:t>Manual input (5–10 mins per bug)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6B6D4"/>
                          </a:solidFill>
                        </a:defRPr>
                      </a:pPr>
                      <a:r>
                        <a:t>1-Click AI Screenshot OCR (&lt; 5 seconds)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94A3B8"/>
                          </a:solidFill>
                        </a:defRPr>
                      </a:pPr>
                      <a:r>
                        <a:t>Severity Estimation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94A3B8"/>
                          </a:solidFill>
                        </a:defRPr>
                      </a:pPr>
                      <a:r>
                        <a:t>Subjective human manual picking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6B6D4"/>
                          </a:solidFill>
                        </a:defRPr>
                      </a:pPr>
                      <a:r>
                        <a:t>Gemini Predictive AI Auto-Classification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94A3B8"/>
                          </a:solidFill>
                        </a:defRPr>
                      </a:pPr>
                      <a:r>
                        <a:t>Developer Triage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94A3B8"/>
                          </a:solidFill>
                        </a:defRPr>
                      </a:pPr>
                      <a:r>
                        <a:t>Manual dispatch by Project Manager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6B6D4"/>
                          </a:solidFill>
                        </a:defRPr>
                      </a:pPr>
                      <a:r>
                        <a:t>AI Skill-Based Match Engine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94A3B8"/>
                          </a:solidFill>
                        </a:defRPr>
                      </a:pPr>
                      <a:r>
                        <a:t>Resolution Assistance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94A3B8"/>
                          </a:solidFill>
                        </a:defRPr>
                      </a:pPr>
                      <a:r>
                        <a:t>None (Dev investigates from scratch)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6B6D4"/>
                          </a:solidFill>
                        </a:defRPr>
                      </a:pPr>
                      <a:r>
                        <a:t>AI Co-Pilot Root Cause &amp; Fix Suggestions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94A3B8"/>
                          </a:solidFill>
                        </a:defRPr>
                      </a:pPr>
                      <a:r>
                        <a:t>Data Boot Policy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94A3B8"/>
                          </a:solidFill>
                        </a:defRPr>
                      </a:pPr>
                      <a:r>
                        <a:t>Requires fabricated demo data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6B6D4"/>
                          </a:solidFill>
                        </a:defRPr>
                      </a:pPr>
                      <a:r>
                        <a:t>Clean Zero-Data Startup + Real Metrics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BUGFLOW 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System Architecture: Widescreen Tiered Overview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5912" cy="1005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49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6B6D4"/>
                </a:solidFill>
              </a:defRPr>
            </a:pPr>
            <a:r>
              <a:t>1. Presentation Tier (Frontend)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React 18 SPA • Vite Build • Tailwind CSS v4 • Lucide Icons • User-Controlled Theme Provider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834640"/>
            <a:ext cx="10725912" cy="1005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971800"/>
            <a:ext cx="10149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6366F1"/>
                </a:solidFill>
              </a:defRPr>
            </a:pPr>
            <a:r>
              <a:t>2. Application API Tier (Backend)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Python 3.14 • Flask Modular Blueprints • Flask-JWT-Extended Security • REST API Contracts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023360"/>
            <a:ext cx="10725912" cy="1005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160520"/>
            <a:ext cx="10149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0B981"/>
                </a:solidFill>
              </a:defRPr>
            </a:pPr>
            <a:r>
              <a:t>3. Intelligence Tier (AI Engine)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Google Gemini 2.5 Flash SDK • Multimodal OCR Vision Parser • Code Fix Co-Pilot Engine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212080"/>
            <a:ext cx="10725912" cy="1005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5349240"/>
            <a:ext cx="10149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6B6D4"/>
                </a:solidFill>
              </a:defRPr>
            </a:pPr>
            <a:r>
              <a:t>4. Persistence Tier (Database)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SQLAlchemy 2.0 ORM • SQLite / PostgreSQL Engine • Automated Relational Cascade Handlers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BUGFLOW 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Core Platform Modules &amp; Role-Based Workspaces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6B6D4"/>
                </a:solidFill>
              </a:defRPr>
            </a:pPr>
            <a:r>
              <a:t>🛡️ Admin Control Module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 Full system user management &amp; role policies.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 Project creation, member allocation &amp; key generation.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 Global security parameters &amp; system configurations.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6366F1"/>
                </a:solidFill>
              </a:defRPr>
            </a:pPr>
            <a:r>
              <a:t>💻 Developer Workspace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 Personalized assigned bug queues &amp; interactive Kanban board.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 AI Solution Co-Pilot providing root causes &amp; code fixes.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 State transition triggers (In Progress -&gt; Resolved).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14800"/>
            <a:ext cx="512064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29768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0B981"/>
                </a:solidFill>
              </a:defRPr>
            </a:pPr>
            <a:r>
              <a:t>🧪 Tester Quality Module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 Multimodal screenshot bug extraction modal.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 AI description preview &amp; manual override before saving.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 Bug verification &amp; reopening/closure controls.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114800"/>
            <a:ext cx="512064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429768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6B6D4"/>
                </a:solidFill>
              </a:defRPr>
            </a:pPr>
            <a:r>
              <a:t>📊 Project Manager Analytics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 Real-time sprint velocity &amp; health monitoring.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 Developer workload distribution &amp; defect age reports.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 Release readiness summaries &amp; analytics exports.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BUGFLOW 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Multimodal Screenshot Defect OCR Engine Workflow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926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6366F1"/>
                </a:solidFill>
              </a:defRPr>
            </a:pPr>
            <a:r>
              <a:t>Step 1: Upload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 Tester uploads PNG/JPG UI screenshot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2926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6366F1"/>
                </a:solidFill>
              </a:defRPr>
            </a:pPr>
            <a:r>
              <a:t>Step 2: Payload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 Frontend packages base64 image data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29184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2926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6366F1"/>
                </a:solidFill>
              </a:defRPr>
            </a:pPr>
            <a:r>
              <a:t>Step 3: Vision OCR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 Gemini 2.5 Flash parses visual pixel text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114800"/>
            <a:ext cx="329184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297680"/>
            <a:ext cx="2926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6B6D4"/>
                </a:solidFill>
              </a:defRPr>
            </a:pPr>
            <a:r>
              <a:t>Step 4: AI Extraction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 Extracts title, steps, expected vs actual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4114800"/>
            <a:ext cx="329184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4297680"/>
            <a:ext cx="2926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6B6D4"/>
                </a:solidFill>
              </a:defRPr>
            </a:pPr>
            <a:r>
              <a:t>Step 5: Triage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 Predicts severity &amp; suggests developer match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4114800"/>
            <a:ext cx="329184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4297680"/>
            <a:ext cx="2926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6B6D4"/>
                </a:solidFill>
              </a:defRPr>
            </a:pPr>
            <a:r>
              <a:t>Step 6: Commit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 User reviews preview &amp; commits to Database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BUGFLOW 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Defect Lifecycle &amp; Rigid State Machine Rules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1920240" cy="29260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468880"/>
            <a:ext cx="17373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defRPr sz="1600" b="1">
                <a:solidFill>
                  <a:srgbClr val="6366F1"/>
                </a:solidFill>
              </a:defRPr>
            </a:pPr>
            <a:r>
              <a:t>Reported</a:t>
            </a:r>
          </a:p>
          <a:p>
            <a:pPr algn="ctr">
              <a:defRPr sz="1200">
                <a:solidFill>
                  <a:srgbClr val="94A3B8"/>
                </a:solidFill>
              </a:defRPr>
            </a:pPr>
            <a:r>
              <a:t>Bug submitted by Tester; awaiting triage.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26080" y="2286000"/>
            <a:ext cx="1920240" cy="29260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17520" y="2468880"/>
            <a:ext cx="17373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defRPr sz="1600" b="1">
                <a:solidFill>
                  <a:srgbClr val="06B6D4"/>
                </a:solidFill>
              </a:defRPr>
            </a:pPr>
            <a:r>
              <a:t>In Review</a:t>
            </a:r>
          </a:p>
          <a:p>
            <a:pPr algn="ctr">
              <a:defRPr sz="1200">
                <a:solidFill>
                  <a:srgbClr val="94A3B8"/>
                </a:solidFill>
              </a:defRPr>
            </a:pPr>
            <a:r>
              <a:t>Evaluated by PM/Lead for validity.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0" y="2286000"/>
            <a:ext cx="1920240" cy="29260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80" y="2468880"/>
            <a:ext cx="17373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defRPr sz="1600" b="1">
                <a:solidFill>
                  <a:srgbClr val="10B981"/>
                </a:solidFill>
              </a:defRPr>
            </a:pPr>
            <a:r>
              <a:t>In Progress</a:t>
            </a:r>
          </a:p>
          <a:p>
            <a:pPr algn="ctr">
              <a:defRPr sz="1200">
                <a:solidFill>
                  <a:srgbClr val="94A3B8"/>
                </a:solidFill>
              </a:defRPr>
            </a:pPr>
            <a:r>
              <a:t>Assigned to Dev; actively under fix.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2286000"/>
            <a:ext cx="1920240" cy="29260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06640" y="2468880"/>
            <a:ext cx="17373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defRPr sz="1600" b="1">
                <a:solidFill>
                  <a:srgbClr val="06B6D4"/>
                </a:solidFill>
              </a:defRPr>
            </a:pPr>
            <a:r>
              <a:t>Resolved</a:t>
            </a:r>
          </a:p>
          <a:p>
            <a:pPr algn="ctr">
              <a:defRPr sz="1200">
                <a:solidFill>
                  <a:srgbClr val="94A3B8"/>
                </a:solidFill>
              </a:defRPr>
            </a:pPr>
            <a:r>
              <a:t>Dev submitted code fix &amp; resolution log.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509760" y="2286000"/>
            <a:ext cx="1920240" cy="29260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0" y="2468880"/>
            <a:ext cx="17373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defRPr sz="1600" b="1">
                <a:solidFill>
                  <a:srgbClr val="6366F1"/>
                </a:solidFill>
              </a:defRPr>
            </a:pPr>
            <a:r>
              <a:t>Closed</a:t>
            </a:r>
          </a:p>
          <a:p>
            <a:pPr algn="ctr">
              <a:defRPr sz="1200">
                <a:solidFill>
                  <a:srgbClr val="94A3B8"/>
                </a:solidFill>
              </a:defRPr>
            </a:pPr>
            <a:r>
              <a:t>Verified by Tester in staging environment.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BUGFLOW 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Technology Stack &amp; Software Engineering Tools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6B6D4"/>
                </a:solidFill>
              </a:defRPr>
            </a:pPr>
            <a:r>
              <a:t>🎨 Frontend Stack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 React 18 SPA Architecture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 Vite 8 Lightning Build Engine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 Tailwind CSS v4 Modern Styling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 Lucide React Icon Library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 Axios HTTP Interceptors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6366F1"/>
                </a:solidFill>
              </a:defRPr>
            </a:pPr>
            <a:r>
              <a:t>⚙️ Backend Stack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 Python 3.14 Engine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 Flask 3.0 Web Framework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 SQLAlchemy 2.0 ORM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 Flask-JWT-Extended Authentication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 Werkzeug Password Hashing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0B981"/>
                </a:solidFill>
              </a:defRPr>
            </a:pPr>
            <a:r>
              <a:t>🤖 AI &amp; Test Suite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 Google Gemini 2.5 Flash SDK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 Multimodal Vision API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 Pytest Test Suite (100% Pass Rate)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 In-Memory Isolated Testing (:memory:)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 GitHub Actions CI/CD Pipeline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BUGFLOW 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Verified Results &amp; Future Engineering Scope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0B981"/>
                </a:solidFill>
              </a:defRPr>
            </a:pPr>
            <a:r>
              <a:t>✅ Verified Project Results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 Zero-Data Boot: Clean database startup with 0 demo clutter.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 Fast Compilation: Vite production client build completed in 6.66s.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 100% Test Pass Rate: 6/6 Pytest suite tests passing in 8s.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 Theme Support: 6 user-controlled custom visual themes.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 Robust Security: Password hashing + JWT session persistence.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6B6D4"/>
                </a:solidFill>
              </a:defRPr>
            </a:pPr>
            <a:r>
              <a:t>🚀 Future Engineering Roadmap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 Phase 1: Bi-directional GitHub &amp; GitLab webhook integration.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 Phase 2: Automated AI Pull Request generation from bug fixes.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 Phase 3: CI/CD test failure auto-triage (Jenkins &amp; GitHub Actions).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 Phase 4: Real-time WebSockets team chat &amp; live collaboration.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